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1" d="100"/>
          <a:sy n="101" d="100"/>
        </p:scale>
        <p:origin x="48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839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548640"/>
            <a:ext cx="2743200" cy="2743200"/>
          </a:xfrm>
          <a:prstGeom prst="ellipse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3200400"/>
            <a:ext cx="1828800" cy="1828800"/>
          </a:xfrm>
          <a:prstGeom prst="ellipse">
            <a:avLst/>
          </a:prstGeom>
          <a:solidFill>
            <a:srgbClr val="0D737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Smartphone Recommendation 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8470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smtClean="0">
                <a:solidFill>
                  <a:srgbClr val="9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1800" dirty="0">
                <a:solidFill>
                  <a:srgbClr val="9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 &amp; Upsell/Cross-Sell Insights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 flipV="1">
            <a:off x="502919" y="2194560"/>
            <a:ext cx="4636639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Medha Vemula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24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MOVATE Internship  |  8-Week Project  |  E-Commerce Domain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297680"/>
            <a:ext cx="137160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– 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– Apr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company is not effectively identifying and targeting existing customers for upsell and cross-sell opportunities, resulting in lost revenue potential."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23160"/>
            <a:ext cx="54864" cy="1417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871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upsell/cross-sell opportunities with existing customers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42316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423160"/>
            <a:ext cx="54864" cy="1417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4871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Personalisation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7889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receive generic offers not tailored to their needs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42316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423160"/>
            <a:ext cx="54864" cy="1417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4871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CRM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analytics to identify high-value customer segments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8-week internship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1463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117043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170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upsell &amp; cross-sell concepts; study Amazon, SaaS, and telecom examples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54864" cy="1463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117043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0680" y="1170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EDA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166420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clean, and </a:t>
            </a:r>
            <a:r>
              <a:rPr lang="en-US" sz="100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r>
              <a:rPr lang="en-US" sz="100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datasets; identify purchase patterns and segments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97480"/>
            <a:ext cx="54864" cy="1463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Shape 17"/>
          <p:cNvSpPr/>
          <p:nvPr/>
        </p:nvSpPr>
        <p:spPr>
          <a:xfrm>
            <a:off x="530352" y="286207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2862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Recommendation Engine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335584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Apriori algorithm to mine association rules and build a smart recommendation framework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69748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697480"/>
            <a:ext cx="54864" cy="1463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Shape 23"/>
          <p:cNvSpPr/>
          <p:nvPr/>
        </p:nvSpPr>
        <p:spPr>
          <a:xfrm>
            <a:off x="4828032" y="286207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2862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ROI Estimation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335584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revenue impact, calculate ROI, and </a:t>
            </a:r>
            <a:r>
              <a:rPr lang="en-US" sz="100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</a:t>
            </a:r>
            <a:r>
              <a:rPr lang="en-US" sz="100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effectiveness of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Kaggle-inspired structured dataset | Domain: Smartphone E-Commerce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Dataset Sample </a:t>
            </a:r>
            <a:r>
              <a:rPr lang="en-US" sz="950" i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07008"/>
          <a:ext cx="7315200" cy="149961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User_ID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Budget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User_Category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Pref_RAM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Pref_Storage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Camera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Battery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 (₹)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52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Above 30k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High-End User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8GB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256GB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Low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Chennai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35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51,033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Above 30k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High-End User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12GB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256GB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Bangalore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39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57,199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61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10k–30k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Balanced User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12GB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128GB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Chennai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33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24,784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21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Above 30k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High-End User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4GB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128GB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Hyderabad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28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E4A"/>
                          </a:solidFill>
                        </a:rPr>
                        <a:t>45,551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926080"/>
            <a:ext cx="192024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999232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Records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65760" y="3482950"/>
            <a:ext cx="192024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</a:t>
            </a:r>
            <a:r>
              <a:rPr lang="en-US" sz="1000" dirty="0" smtClean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14600" y="2926080"/>
            <a:ext cx="192024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1" name="Text 8"/>
          <p:cNvSpPr/>
          <p:nvPr/>
        </p:nvSpPr>
        <p:spPr>
          <a:xfrm>
            <a:off x="2514600" y="2999232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514600" y="3482950"/>
            <a:ext cx="192024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, RAM</a:t>
            </a: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smtClean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, Age , City</a:t>
            </a: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2926080"/>
            <a:ext cx="192024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2999232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Segments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663440" y="3482950"/>
            <a:ext cx="192024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/ Balanced / High-End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12280" y="2926080"/>
            <a:ext cx="192024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7" name="Text 14"/>
          <p:cNvSpPr/>
          <p:nvPr/>
        </p:nvSpPr>
        <p:spPr>
          <a:xfrm>
            <a:off x="6812280" y="2999232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Cities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812280" y="3482950"/>
            <a:ext cx="192024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• Hyderabad • Bangalore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i="1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r>
              <a:rPr lang="en-US" sz="95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features such as Age, City, Revenue, and customer preferences for recommendation and business analysis.</a:t>
            </a:r>
            <a:endParaRPr lang="en-US" sz="9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4699"/>
            <a:ext cx="7315200" cy="156501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96950"/>
            <a:ext cx="8366760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from raw data to business recommendations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115568" cy="914400"/>
          </a:xfrm>
          <a:prstGeom prst="rect">
            <a:avLst/>
          </a:prstGeom>
          <a:solidFill>
            <a:srgbClr val="4A627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572768"/>
            <a:ext cx="11155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" y="1591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35608" y="1947672"/>
            <a:ext cx="73152" cy="128016"/>
          </a:xfrm>
          <a:prstGeom prst="rect">
            <a:avLst/>
          </a:prstGeom>
          <a:solidFill>
            <a:srgbClr val="90B4CC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554480"/>
            <a:ext cx="1115568" cy="91440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572768"/>
            <a:ext cx="11155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45336" y="1591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24328" y="1947672"/>
            <a:ext cx="73152" cy="128016"/>
          </a:xfrm>
          <a:prstGeom prst="rect">
            <a:avLst/>
          </a:prstGeom>
          <a:solidFill>
            <a:srgbClr val="90B4CC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1554480"/>
            <a:ext cx="1115568" cy="914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572768"/>
            <a:ext cx="11155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34056" y="1591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13048" y="1947672"/>
            <a:ext cx="73152" cy="128016"/>
          </a:xfrm>
          <a:prstGeom prst="rect">
            <a:avLst/>
          </a:prstGeom>
          <a:solidFill>
            <a:srgbClr val="90B4CC"/>
          </a:solidFill>
          <a:ln/>
        </p:spPr>
      </p:sp>
      <p:sp>
        <p:nvSpPr>
          <p:cNvPr id="16" name="Shape 14"/>
          <p:cNvSpPr/>
          <p:nvPr/>
        </p:nvSpPr>
        <p:spPr>
          <a:xfrm>
            <a:off x="3886200" y="1554480"/>
            <a:ext cx="1115568" cy="9144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1572768"/>
            <a:ext cx="11155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22776" y="1591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01768" y="1947672"/>
            <a:ext cx="73152" cy="128016"/>
          </a:xfrm>
          <a:prstGeom prst="rect">
            <a:avLst/>
          </a:prstGeom>
          <a:solidFill>
            <a:srgbClr val="90B4CC"/>
          </a:solidFill>
          <a:ln/>
        </p:spPr>
      </p:sp>
      <p:sp>
        <p:nvSpPr>
          <p:cNvPr id="20" name="Shape 18"/>
          <p:cNvSpPr/>
          <p:nvPr/>
        </p:nvSpPr>
        <p:spPr>
          <a:xfrm>
            <a:off x="5074920" y="1554480"/>
            <a:ext cx="1115568" cy="91440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572768"/>
            <a:ext cx="11155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11496" y="1591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90488" y="1947672"/>
            <a:ext cx="73152" cy="128016"/>
          </a:xfrm>
          <a:prstGeom prst="rect">
            <a:avLst/>
          </a:prstGeom>
          <a:solidFill>
            <a:srgbClr val="90B4CC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1554480"/>
            <a:ext cx="111556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572768"/>
            <a:ext cx="11155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0216" y="1591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79208" y="1947672"/>
            <a:ext cx="73152" cy="128016"/>
          </a:xfrm>
          <a:prstGeom prst="rect">
            <a:avLst/>
          </a:prstGeom>
          <a:solidFill>
            <a:srgbClr val="90B4C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52360" y="1554480"/>
            <a:ext cx="1115568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1572768"/>
            <a:ext cx="11155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Insights/Dashboard</a:t>
            </a:r>
          </a:p>
          <a:p>
            <a:pPr marL="0" indent="0" algn="ctr">
              <a:buNone/>
            </a:pPr>
            <a:r>
              <a:rPr lang="en-US" sz="1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88936" y="1591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2834640"/>
            <a:ext cx="2011680" cy="150876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2834640"/>
            <a:ext cx="201168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2871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</a:t>
            </a:r>
            <a:r>
              <a:rPr lang="en-US" sz="900" dirty="0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dataset(inspired from </a:t>
            </a:r>
            <a:r>
              <a:rPr lang="en-US" sz="900" dirty="0" err="1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r>
              <a:rPr lang="en-US" sz="900" dirty="0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9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500+ records • 10 attributes • 3 cities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14600" y="2834640"/>
            <a:ext cx="2011680" cy="150876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6" name="Shape 34"/>
          <p:cNvSpPr/>
          <p:nvPr/>
        </p:nvSpPr>
        <p:spPr>
          <a:xfrm>
            <a:off x="2514600" y="2834640"/>
            <a:ext cx="201168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7" name="Text 35"/>
          <p:cNvSpPr/>
          <p:nvPr/>
        </p:nvSpPr>
        <p:spPr>
          <a:xfrm>
            <a:off x="2606040" y="2871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Layer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06040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r>
              <a:rPr lang="en-US" sz="900" dirty="0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min_support=0.05 • Confidence threshold=0.5 • Lift &gt; 1 filter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834640"/>
            <a:ext cx="2011680" cy="150876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0" name="Shape 38"/>
          <p:cNvSpPr/>
          <p:nvPr/>
        </p:nvSpPr>
        <p:spPr>
          <a:xfrm>
            <a:off x="4709160" y="2834640"/>
            <a:ext cx="201168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2871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Layer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0600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(device upgrade) • Cross-sell (accessories) • Downgrade (</a:t>
            </a:r>
            <a:r>
              <a:rPr lang="en-US" sz="900" dirty="0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budget-based alternative)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03720" y="2834640"/>
            <a:ext cx="2011680" cy="150876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4" name="Shape 42"/>
          <p:cNvSpPr/>
          <p:nvPr/>
        </p:nvSpPr>
        <p:spPr>
          <a:xfrm>
            <a:off x="6903720" y="2834640"/>
            <a:ext cx="201168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5" name="Text 43"/>
          <p:cNvSpPr/>
          <p:nvPr/>
        </p:nvSpPr>
        <p:spPr>
          <a:xfrm>
            <a:off x="6995160" y="2871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95160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</a:t>
            </a:r>
            <a:r>
              <a:rPr lang="en-US" sz="900" dirty="0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r>
              <a:rPr lang="en-US" sz="900" dirty="0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ROI </a:t>
            </a:r>
            <a:r>
              <a:rPr lang="en-US" sz="900" dirty="0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r>
              <a:rPr lang="en-US" sz="900" dirty="0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User-Segment analysis </a:t>
            </a:r>
            <a:r>
              <a:rPr lang="en-US" sz="9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 smtClean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contribution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approach to solving the upsell/cross-sell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3657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966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" y="996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9903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upsell/cross-sell concepts. Selected smartphone domain. Loaded </a:t>
            </a:r>
            <a:r>
              <a:rPr lang="en-US" sz="950" dirty="0" err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950" dirty="0" err="1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obilephones</a:t>
            </a:r>
            <a:r>
              <a:rPr lang="en-US" sz="95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500-record </a:t>
            </a: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from </a:t>
            </a:r>
            <a:r>
              <a:rPr lang="en-US" sz="950" dirty="0" err="1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r>
              <a:rPr lang="en-US" sz="95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50" dirty="0" err="1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flitered</a:t>
            </a:r>
            <a:r>
              <a:rPr lang="en-US" sz="95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Samsung brand from the dataset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69748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9966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50792" y="996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39903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structured survey with questions on product usage, satisfaction, awareness &amp; willingness. Deployed via Google </a:t>
            </a:r>
            <a:r>
              <a:rPr lang="en-US" sz="95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collected </a:t>
            </a:r>
          </a:p>
          <a:p>
            <a:pPr marL="0" indent="0">
              <a:buNone/>
            </a:pPr>
            <a:r>
              <a:rPr lang="en-US" sz="95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60120"/>
            <a:ext cx="2697480" cy="365760"/>
          </a:xfrm>
          <a:prstGeom prst="rect">
            <a:avLst/>
          </a:prstGeom>
          <a:solidFill>
            <a:srgbClr val="0A5C6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9966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76872" y="996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Clustering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139903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purchase patterns. Segmented users into Entry, Balanced, High-End. Identified demographic categories.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80360"/>
            <a:ext cx="2697480" cy="365760"/>
          </a:xfrm>
          <a:prstGeom prst="rect">
            <a:avLst/>
          </a:prstGeom>
          <a:solidFill>
            <a:srgbClr val="4A627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9169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" y="2916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31927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Apriori mining. Generated 9 top association rules with confidence=1.0, lift=1.98. Identified perfect rules.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88036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80360"/>
            <a:ext cx="2697480" cy="365760"/>
          </a:xfrm>
          <a:prstGeom prst="rect">
            <a:avLst/>
          </a:prstGeom>
          <a:solidFill>
            <a:srgbClr val="0A4060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29169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50792" y="2916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ROI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31927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impact per </a:t>
            </a:r>
            <a:r>
              <a:rPr lang="en-US" sz="95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segment. </a:t>
            </a: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ROI model showing 873% return.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88036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880360"/>
            <a:ext cx="269748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9169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76872" y="2916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31927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full report + PPT + Streamlit dashboard demo showcasing recommendation engine live.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 (Apriori Algorithm)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deliverable — mining rules from Samsung transaction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28016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freq(A∪B) / 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items appear together in transactions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128016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 | 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5727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buying B given customer bought 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743200" cy="128016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960120"/>
            <a:ext cx="27432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/ P(B)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5727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of rule vs random chance. Lift &gt; 1 = meaningful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23591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Top Association Rules – Output from Week 6 Code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33472"/>
          <a:ext cx="8503920" cy="17556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Antecedent (If…)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Consequent (…then)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Lift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Samsung Galaxy M14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Screen Protector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0.353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1.980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Samsung Galaxy M14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Wireless Charger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0.163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1.980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Samsung Galaxy S23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Phone Case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0.184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1.980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Samsung Galaxy F54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Phone Case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0.081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1.980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Samsung Galaxy M14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Power Bank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0.124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F0F8"/>
                          </a:solidFill>
                        </a:rPr>
                        <a:t>1.980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rules show Confidence = 1.0 (perfect rules) — every customer buying A always buys B</a:t>
            </a:r>
            <a:endParaRPr lang="en-US" sz="9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70048"/>
            <a:ext cx="8591406" cy="1652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· Cross-Sell · Downgrade logic by user segment &amp; city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UPSELL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44752"/>
            <a:ext cx="25237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premium device upgrades.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→ Galaxy M34 (₹18K)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→ Galaxy S21 FE (₹32K)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→ Galaxy S24 Ultra (₹1.2L)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CROSS-SELL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1444752"/>
            <a:ext cx="25237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accessories from rules: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Earphones, Charging Cable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Earbuds, Fast Charger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Buds, </a:t>
            </a:r>
            <a:r>
              <a:rPr lang="en-US" sz="100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Bank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60120"/>
            <a:ext cx="2743200" cy="411480"/>
          </a:xfrm>
          <a:prstGeom prst="rect">
            <a:avLst/>
          </a:prstGeom>
          <a:solidFill>
            <a:srgbClr val="4A6274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DOWNGRADE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444752"/>
            <a:ext cx="25237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Budget-friendly alternatives: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M04 (₹8K) for Entry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F14 (₹12K) for Balanced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A34 (₹25K) for High-End</a:t>
            </a:r>
            <a:endParaRPr lang="en-US" sz="10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71" y="3450511"/>
            <a:ext cx="8449989" cy="12913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 by user segment &amp; city | Business impact estimation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3327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₹1.76 Cr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516990"/>
            <a:ext cx="19659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Revenue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65960" cy="96012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03327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516990"/>
            <a:ext cx="19659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6596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03327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₹1.57 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516990"/>
            <a:ext cx="19659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65960" cy="960120"/>
          </a:xfrm>
          <a:prstGeom prst="rect">
            <a:avLst/>
          </a:prstGeom>
          <a:solidFill>
            <a:srgbClr val="4A6274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03327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 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516990"/>
            <a:ext cx="19659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84832"/>
          <a:ext cx="5394960" cy="145923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User 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Upsell Rev (₹)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Cross-Sell (₹)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Rev (₹)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F0F8"/>
                          </a:solidFill>
                        </a:rPr>
                        <a:t>Entry Level User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F0F8"/>
                          </a:solidFill>
                        </a:rPr>
                        <a:t>227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F0F8"/>
                          </a:solidFill>
                        </a:rPr>
                        <a:t>29,96,400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F0F8"/>
                          </a:solidFill>
                        </a:rPr>
                        <a:t>2,49,700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F0F8"/>
                          </a:solidFill>
                        </a:rPr>
                        <a:t>32,46,100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F0F8"/>
                          </a:solidFill>
                        </a:rPr>
                        <a:t>Balanced User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F0F8"/>
                          </a:solidFill>
                        </a:rPr>
                        <a:t>175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F0F8"/>
                          </a:solidFill>
                        </a:rPr>
                        <a:t>35,00,000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F0F8"/>
                          </a:solidFill>
                        </a:rPr>
                        <a:t>5,25,000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F0F8"/>
                          </a:solidFill>
                        </a:rPr>
                        <a:t>40,25,000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</a:rPr>
                        <a:t>High-End User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98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94,08,000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9,40,800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</a:rPr>
                        <a:t>1,03,48,800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989320" y="2084832"/>
            <a:ext cx="2834640" cy="141732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8" name="Text 15"/>
          <p:cNvSpPr/>
          <p:nvPr/>
        </p:nvSpPr>
        <p:spPr>
          <a:xfrm>
            <a:off x="6080760" y="2121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Revenue Share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80760" y="2468880"/>
            <a:ext cx="1503676" cy="20116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7"/>
          <p:cNvSpPr/>
          <p:nvPr/>
        </p:nvSpPr>
        <p:spPr>
          <a:xfrm>
            <a:off x="6080760" y="2468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58.73%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80760" y="2788920"/>
            <a:ext cx="584777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19"/>
          <p:cNvSpPr/>
          <p:nvPr/>
        </p:nvSpPr>
        <p:spPr>
          <a:xfrm>
            <a:off x="6080760" y="2788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22.84%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80760" y="3108960"/>
            <a:ext cx="471867" cy="201168"/>
          </a:xfrm>
          <a:prstGeom prst="rect">
            <a:avLst/>
          </a:prstGeom>
          <a:solidFill>
            <a:srgbClr val="4A6274"/>
          </a:solidFill>
          <a:ln/>
        </p:spPr>
      </p:sp>
      <p:sp>
        <p:nvSpPr>
          <p:cNvPr id="24" name="Text 21"/>
          <p:cNvSpPr/>
          <p:nvPr/>
        </p:nvSpPr>
        <p:spPr>
          <a:xfrm>
            <a:off x="6080760" y="3108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18.43%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0040" y="3657600"/>
            <a:ext cx="5394960" cy="65836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Breakdown: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39136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₹5L  +  Operational ₹3L  +  Variable ₹10L  =  Total Cost ₹18L  |  Depreciation (10%) = ₹1L  |  Net Profit = ₹1.57Cr</a:t>
            </a:r>
            <a:endParaRPr lang="en-US" sz="9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05585"/>
            <a:ext cx="5394960" cy="14422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User Type  |  User Distribution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868680"/>
            <a:ext cx="640080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charts.jpeg"/>
          <p:cNvPicPr>
            <a:picLocks noChangeAspect="1"/>
          </p:cNvPicPr>
          <p:nvPr/>
        </p:nvPicPr>
        <p:blipFill rotWithShape="1">
          <a:blip r:embed="rId3"/>
          <a:srcRect r="22200"/>
          <a:stretch/>
        </p:blipFill>
        <p:spPr>
          <a:xfrm>
            <a:off x="2406133" y="822960"/>
            <a:ext cx="4331734" cy="40325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EDA, Apriori mining &amp; revenue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1207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High-End Users = Highest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19.6% of users (98 High-End Users) generate 58.73% of total revenue (₹1.03 Cr). Prioritise this segment.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54864" cy="1207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Perfect Association Rules Found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rules with confidence=1.0 identified. Galaxy M14 buyers always purchase Screen Protector, </a:t>
            </a:r>
            <a:r>
              <a:rPr lang="en-US" sz="95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Case</a:t>
            </a:r>
            <a:r>
              <a:rPr lang="en-US" sz="950" dirty="0" smtClean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31720"/>
            <a:ext cx="54864" cy="1207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23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Mumbai Leads in Revenue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contributes 58.73% of city-wise revenue, followed by Hyderabad (22.84%) and Bangalore (18.42%).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31720"/>
            <a:ext cx="54864" cy="1207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423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Cross-Sell Adds ~10% Revenue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Cases (348 units) and Screen Protectors (297 units) are most purchased accessories. High cross-sell potential.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03320"/>
            <a:ext cx="54864" cy="1207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ROI = 873%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₹1.76 Cr against cost of ₹18L yields net profit of ₹1.57 Cr — a highly positive business case.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03320"/>
            <a:ext cx="54864" cy="1207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794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Balanced Users: Mid-Tier Opportunity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1605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Balanced Users generate ₹40.25L. Targeted upsell campaigns can shift them to the High-End segment.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encountered during the 8-week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6002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61872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was synthetically expanded and doesn't reflect live customer behavior or seasonal trends.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6002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1261872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68112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Rule Thresholds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9019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requires min_support tuning. Very low support generated noise; high thresholds missed rare patterns.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16002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044952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Survey Sample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850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 were limited to peers/public — not a representative sample of real Movate customers.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114800" cy="16002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3044952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68112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Dashboard Scope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6850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is basic. Production-grade UI requires advanced front-end integration with CRM systems.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to evolve the system into a production-ready 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508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Predictions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rule-based logic with collaborative filtering or XGBoost to personalise recommendations at scale.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54864" cy="1508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435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Pipeline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7647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transaction streams via Kafka or APIs to update recommendations dynamically.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60120"/>
            <a:ext cx="54864" cy="1508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1435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7647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browsing history, wish-list data, and demographics for hyper-personalised offers.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65176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51760"/>
            <a:ext cx="54864" cy="1508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743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Module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4564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price elasticity models to offer optimal discounts that maximise conversion and margin.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65176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651760"/>
            <a:ext cx="54864" cy="1508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743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83280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4564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output to Salesforce/HubSpot to trigger automated campaigns based on model outputs.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65176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651760"/>
            <a:ext cx="54864" cy="1508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2743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5080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34564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Power BI / Streamlit dashboard with real-time KPI tracking and drill-down analytics.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731520"/>
            <a:ext cx="3657600" cy="3657600"/>
          </a:xfrm>
          <a:prstGeom prst="ellipse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0D7377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200400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98448"/>
            <a:ext cx="109728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3167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Smart Recommendation System using Apriori association rule mining on a 500+ record smartphone dataset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09728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938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9 perfect association rules (confidence=1.0) that directly drive cross-sell accessory recommendations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109728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₹1.76 Cr in total revenue with 873% ROI, confirming the strong business case for upsell/cross-sell targeting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163824"/>
            <a:ext cx="109728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182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customers into 3 groups — High-End Users (₹1.03 Cr, 58.7%) emerge as the most valuable segment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09728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8039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recommendation framework, ROI model, and Streamlit dashboard ready for business deployment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Medha Vemula  •  MOVATE Internship  •  vemulamedha@gmail.com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7442506" y="4150378"/>
            <a:ext cx="157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THANK YOU..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1377</Words>
  <Application>Microsoft Office PowerPoint</Application>
  <PresentationFormat>On-screen Show (16:9)</PresentationFormat>
  <Paragraphs>310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Recommendation System – Medha Vemula</dc:title>
  <dc:subject>PptxGenJS Presentation</dc:subject>
  <dc:creator>PptxGenJS</dc:creator>
  <cp:lastModifiedBy>user</cp:lastModifiedBy>
  <cp:revision>10</cp:revision>
  <dcterms:created xsi:type="dcterms:W3CDTF">2026-04-12T09:55:58Z</dcterms:created>
  <dcterms:modified xsi:type="dcterms:W3CDTF">2026-04-12T16:18:00Z</dcterms:modified>
</cp:coreProperties>
</file>